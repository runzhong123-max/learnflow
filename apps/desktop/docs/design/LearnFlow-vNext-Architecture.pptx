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27b9c47ba84c74" /><Relationship Type="http://schemas.openxmlformats.org/officeDocument/2006/relationships/extended-properties" Target="/docProps/app.xml" Id="R827d6d2b6f1048a3" /><Relationship Type="http://schemas.openxmlformats.org/officeDocument/2006/relationships/officeDocument" Target="/ppt/presentation.xml" Id="Ref60259981b046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4f6c3e05b14579"/>
  </p:sldMasterIdLst>
  <p:notesMasterIdLst>
    <p:notesMasterId xmlns:r="http://schemas.openxmlformats.org/officeDocument/2006/relationships" r:id="Rfdf9c09c273c4191"/>
  </p:notesMasterIdLst>
  <p:sldIdLst>
    <p:sldId xmlns:r="http://schemas.openxmlformats.org/officeDocument/2006/relationships" id="256" r:id="R0beeef3e6faa49f3"/>
    <p:sldId xmlns:r="http://schemas.openxmlformats.org/officeDocument/2006/relationships" id="257" r:id="R687808947eeb4dad"/>
    <p:sldId xmlns:r="http://schemas.openxmlformats.org/officeDocument/2006/relationships" id="258" r:id="R49270de47a5a45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abde380a934cbb" /><Relationship Type="http://schemas.openxmlformats.org/officeDocument/2006/relationships/slideMaster" Target="/ppt/slideMasters/slideMaster1.xml" Id="Re24f6c3e05b14579" /><Relationship Type="http://schemas.openxmlformats.org/officeDocument/2006/relationships/notesMaster" Target="/ppt/notesMasters/notesMaster1.xml" Id="Rfdf9c09c273c4191" /><Relationship Type="http://schemas.openxmlformats.org/officeDocument/2006/relationships/presProps" Target="/ppt/presProps.xml" Id="R16ec5949f2ab4a83" /><Relationship Type="http://schemas.openxmlformats.org/officeDocument/2006/relationships/tableStyles" Target="/ppt/tableStyles.xml" Id="R4dc856f8cfbf48a9" /><Relationship Type="http://schemas.openxmlformats.org/officeDocument/2006/relationships/slide" Target="/ppt/slides/slide1.xml" Id="R0beeef3e6faa49f3" /><Relationship Type="http://schemas.openxmlformats.org/officeDocument/2006/relationships/slide" Target="/ppt/slides/slide2.xml" Id="R687808947eeb4dad" /><Relationship Type="http://schemas.openxmlformats.org/officeDocument/2006/relationships/slide" Target="/ppt/slides/slide3.xml" Id="R49270de47a5a45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79e84197874b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f0c734d11742e0" /><Relationship Type="http://schemas.openxmlformats.org/officeDocument/2006/relationships/notesMaster" Target="/ppt/notesMasters/notesMaster1.xml" Id="R9071d925e28b42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fed8bd4d2a41dd" /><Relationship Type="http://schemas.openxmlformats.org/officeDocument/2006/relationships/notesMaster" Target="/ppt/notesMasters/notesMaster1.xml" Id="Re47c3c94fe2144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920caefe244cd9" /><Relationship Type="http://schemas.openxmlformats.org/officeDocument/2006/relationships/notesMaster" Target="/ppt/notesMasters/notesMaster1.xml" Id="R183ddaf44e434b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docs/CHAT_MODE_PRODUCT_ARCHITECTURE.md</a:t>
            </a:r>
          </a:p>
          <a:p xmlns:a="http://schemas.openxmlformats.org/drawingml/2006/main">
            <a:r>
              <a:t>- docs/AGENT_CAPABILITY_FABRIC.md</a:t>
            </a:r>
          </a:p>
          <a:p xmlns:a="http://schemas.openxmlformats.org/drawingml/2006/main">
            <a:r>
              <a:t>- docs/LEARNING_TASK_RUNTIME.md</a:t>
            </a:r>
          </a:p>
          <a:p xmlns:a="http://schemas.openxmlformats.org/drawingml/2006/main">
            <a:r>
              <a:t>- docs/REVIEW_WORKBENCH.md</a:t>
            </a:r>
          </a:p>
          <a:p xmlns:a="http://schemas.openxmlformats.org/drawingml/2006/main">
            <a:r>
              <a:t>- docs/KNOWLEDGE_AND_LEARNING_FILES.md</a:t>
            </a:r>
          </a:p>
          <a:p xmlns:a="http://schemas.openxmlformats.org/drawingml/2006/main">
            <a:r>
              <a:t>- docs/VNEXT_PROJECT_SYSTEM.md</a:t>
            </a:r>
          </a:p>
          <a:p xmlns:a="http://schemas.openxmlformats.org/drawingml/2006/main">
            <a:r>
              <a:t>- backend/app/services/architecture_registry.py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backend/app/services/architecture_registry.py</a:t>
            </a:r>
          </a:p>
          <a:p xmlns:a="http://schemas.openxmlformats.org/drawingml/2006/main">
            <a:r>
              <a:t>- vnext/server/tool-runtime.ts</a:t>
            </a:r>
          </a:p>
          <a:p xmlns:a="http://schemas.openxmlformats.org/drawingml/2006/main">
            <a:r>
              <a:t>- vnext/server/agent-runtime.ts</a:t>
            </a:r>
          </a:p>
          <a:p xmlns:a="http://schemas.openxmlformats.org/drawingml/2006/main">
            <a:r>
              <a:t>- docs/AGENT_ARCHITECTURE_GUIDE.md</a:t>
            </a:r>
          </a:p>
          <a:p xmlns:a="http://schemas.openxmlformats.org/drawingml/2006/main">
            <a:r>
              <a:t>- docs/AGENT_CAPABILITY_FABRIC.md</a:t>
            </a:r>
          </a:p>
          <a:p xmlns:a="http://schemas.openxmlformats.org/drawingml/2006/main">
            <a:r>
              <a:t>- docs/CHAT_MODE_PRODUCT_ARCHITECTURE.md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docs/FIVE_KERNEL_MEMORY_GRAPH.md</a:t>
            </a:r>
          </a:p>
          <a:p xmlns:a="http://schemas.openxmlformats.org/drawingml/2006/main">
            <a:r>
              <a:t>- docs/ARCHITECTURE_AUTHORITY.md</a:t>
            </a:r>
          </a:p>
          <a:p xmlns:a="http://schemas.openxmlformats.org/drawingml/2006/main">
            <a:r>
              <a:t>- backend/app/services/architecture_registry.py</a:t>
            </a:r>
          </a:p>
          <a:p xmlns:a="http://schemas.openxmlformats.org/drawingml/2006/main">
            <a:r>
              <a:t>- backend/app/services/learning_runtime.py</a:t>
            </a:r>
          </a:p>
          <a:p xmlns:a="http://schemas.openxmlformats.org/drawingml/2006/main">
            <a:r>
              <a:t>- backend/app/services/memory_graph.py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9a84e4e9db4a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f2caab155948ec" /><Relationship Type="http://schemas.openxmlformats.org/officeDocument/2006/relationships/slideLayout" Target="/ppt/slideLayouts/slideLayout1.xml" Id="R2b2add7f2a5d4e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2add7f2a5d4e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04ec5282f4c93" /><Relationship Type="http://schemas.openxmlformats.org/officeDocument/2006/relationships/notesSlide" Target="/ppt/notesSlides/notesSlide1.xml" Id="R6fd94c155f4948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306e3307b4943" /><Relationship Type="http://schemas.openxmlformats.org/officeDocument/2006/relationships/notesSlide" Target="/ppt/notesSlides/notesSlide2.xml" Id="Ree8b2896c11644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90d369adb465a" /><Relationship Type="http://schemas.openxmlformats.org/officeDocument/2006/relationships/notesSlide" Target="/ppt/notesSlides/notesSlide3.xml" Id="Rbd58e12e82a646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9C46865-0A6F-45AE-8455-6722E649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B"/>
          </a:solidFill>
          <a:ln xmlns:a="http://schemas.openxmlformats.org/drawingml/2006/main" w="0">
            <a:solidFill>
              <a:srgbClr val="111B2B"/>
            </a:solidFill>
            <a:prstDash val="solid"/>
          </a:ln>
        </p:spPr>
      </p:sp>
      <p:sp>
        <p:nvSpPr>
          <p:cNvPr id="2" name="eyebrow-1">
            <a:extLst xmlns:a="http://schemas.openxmlformats.org/drawingml/2006/main">
              <a:ext uri="{FF2B5EF4-FFF2-40B4-BE49-F238E27FC236}">
                <a16:creationId xmlns:a16="http://schemas.microsoft.com/office/drawing/2014/main" id="{D78681F6-144A-4322-AFB3-B1A6C931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087A5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87A53"/>
                </a:solidFill>
                <a:latin typeface="PingFang SC"/>
                <a:ea typeface="PingFang SC"/>
                <a:cs typeface="PingFang SC"/>
              </a:rPr>
              <a:t>LEARNFLOW · VNEXT</a:t>
            </a:r>
          </a:p>
        </p:txBody>
      </p:sp>
      <p:sp>
        <p:nvSpPr>
          <p:cNvPr id="3" name="title-1">
            <a:extLst xmlns:a="http://schemas.openxmlformats.org/drawingml/2006/main">
              <a:ext uri="{FF2B5EF4-FFF2-40B4-BE49-F238E27FC236}">
                <a16:creationId xmlns:a16="http://schemas.microsoft.com/office/drawing/2014/main" id="{D4BDE6A8-9CFA-49BC-ABAA-4220EEE3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一个入口，六个正式学习空间</a:t>
            </a:r>
          </a:p>
        </p:txBody>
      </p:sp>
      <p:sp>
        <p:nvSpPr>
          <p:cNvPr id="4" name="subtitle-1">
            <a:extLst xmlns:a="http://schemas.openxmlformats.org/drawingml/2006/main">
              <a:ext uri="{FF2B5EF4-FFF2-40B4-BE49-F238E27FC236}">
                <a16:creationId xmlns:a16="http://schemas.microsoft.com/office/drawing/2014/main" id="{17618443-11B0-425E-9E37-B81A06A1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5727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对话负责协调；任务、复习、路径、记忆与文件各自保持权威。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DF865-5289-49EA-BFBA-B2E968CA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rPr>
              <a:t>01 / 03</a:t>
            </a:r>
          </a:p>
        </p:txBody>
      </p:sp>
      <p:sp>
        <p:nvSpPr>
          <p:cNvPr id="6" name="overview-agent">
            <a:extLst xmlns:a="http://schemas.openxmlformats.org/drawingml/2006/main">
              <a:ext uri="{FF2B5EF4-FFF2-40B4-BE49-F238E27FC236}">
                <a16:creationId xmlns:a16="http://schemas.microsoft.com/office/drawing/2014/main" id="{FC5AAEA1-6CC0-40E7-928B-35293BAE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2286000" cy="1762125"/>
          </a:xfrm>
          <a:prstGeom xmlns:a="http://schemas.openxmlformats.org/drawingml/2006/main" prst="roundRect">
            <a:avLst>
              <a:gd name="adj" fmla="val 9730"/>
            </a:avLst>
          </a:prstGeom>
          <a:solidFill xmlns:a="http://schemas.openxmlformats.org/drawingml/2006/main">
            <a:srgbClr val="087A53"/>
          </a:solidFill>
          <a:ln xmlns:a="http://schemas.openxmlformats.org/drawingml/2006/main" w="9525">
            <a:solidFill>
              <a:srgbClr val="087A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BEA77-465A-4A9A-A44B-8A40D7FE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190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对话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84320-846C-4C49-A9F4-1FE1432F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SFMono-Regular"/>
                <a:ea typeface="SFMono-Regular"/>
                <a:cs typeface="SFMono-Regular"/>
              </a:defRPr>
            </a:pPr>
            <a:r>
              <a:rPr sz="1125" b="1">
                <a:solidFill>
                  <a:srgbClr val="FFFFFF"/>
                </a:solidFill>
                <a:latin typeface="SFMono-Regular"/>
                <a:ea typeface="SFMono-Regular"/>
                <a:cs typeface="SFMono-Regular"/>
              </a:rPr>
              <a:t>free · explain · learn ·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9EB90-E5E0-4D71-BF0E-CF2564C8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1905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识别意图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协调空间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回到原学习现场</a:t>
            </a:r>
          </a:p>
        </p:txBody>
      </p:sp>
      <p:sp>
        <p:nvSpPr>
          <p:cNvPr id="10" name="overview-conversation">
            <a:extLst xmlns:a="http://schemas.openxmlformats.org/drawingml/2006/main">
              <a:ext uri="{FF2B5EF4-FFF2-40B4-BE49-F238E27FC236}">
                <a16:creationId xmlns:a16="http://schemas.microsoft.com/office/drawing/2014/main" id="{EF7766CE-6CCD-42AB-BA1E-1DC85C8F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47850"/>
            <a:ext cx="2476500" cy="1685925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C7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8DAA2-9597-4E6C-AD41-52F80C81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47850"/>
            <a:ext cx="66675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53"/>
          </a:solidFill>
          <a:ln xmlns:a="http://schemas.openxmlformats.org/drawingml/2006/main" w="0">
            <a:solidFill>
              <a:srgbClr val="087A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BE5FE-671B-4B6B-AFC5-50CB996D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38350"/>
            <a:ext cx="209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对话与项目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38D7F-E5AC-449C-B5AA-05A1E6F9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38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defRPr>
            </a:pPr>
            <a:r>
              <a:rPr sz="1125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rPr>
              <a:t>Session / Project / Checkpoint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34271-08A4-4578-B61B-D0EB59B5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8130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对话连续性 · 项目目标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关卡范围 · 返回锚点</a:t>
            </a:r>
          </a:p>
        </p:txBody>
      </p:sp>
      <p:sp>
        <p:nvSpPr>
          <p:cNvPr id="15" name="overview-tasks">
            <a:extLst xmlns:a="http://schemas.openxmlformats.org/drawingml/2006/main">
              <a:ext uri="{FF2B5EF4-FFF2-40B4-BE49-F238E27FC236}">
                <a16:creationId xmlns:a16="http://schemas.microsoft.com/office/drawing/2014/main" id="{B0E56B87-9759-4DE9-9B3C-CC79C897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47850"/>
            <a:ext cx="2381250" cy="1685925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B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2EDA1-6BF5-4869-8589-9A389394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47850"/>
            <a:ext cx="66675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9D"/>
          </a:solidFill>
          <a:ln xmlns:a="http://schemas.openxmlformats.org/drawingml/2006/main" w="0">
            <a:solidFill>
              <a:srgbClr val="315E9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F61D2-9C77-488E-A60D-B4F73336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38350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学习任务队列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26B962-3C35-4625-830A-0B4B2B64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384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defRPr>
            </a:pPr>
            <a:r>
              <a:rPr sz="1125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rPr>
              <a:t>LearningTask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9A3571-415E-4758-9385-884DBFE2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813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原子目标 · 四阶段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暂停 / 恢复 / 返回来源</a:t>
            </a:r>
          </a:p>
        </p:txBody>
      </p:sp>
      <p:sp>
        <p:nvSpPr>
          <p:cNvPr id="20" name="overview-review">
            <a:extLst xmlns:a="http://schemas.openxmlformats.org/drawingml/2006/main">
              <a:ext uri="{FF2B5EF4-FFF2-40B4-BE49-F238E27FC236}">
                <a16:creationId xmlns:a16="http://schemas.microsoft.com/office/drawing/2014/main" id="{D8F39A7A-B0C8-4908-B406-19843C2E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47850"/>
            <a:ext cx="2381250" cy="1685925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5C98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557877-8699-4176-A66E-3A7E844E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47850"/>
            <a:ext cx="66675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D12"/>
          </a:solidFill>
          <a:ln xmlns:a="http://schemas.openxmlformats.org/drawingml/2006/main" w="0">
            <a:solidFill>
              <a:srgbClr val="9B6D1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5002FB-2593-43E7-B8E2-77397ECE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38350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复习工作台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27C451-99A6-4748-83B9-FA44D0B5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384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defRPr>
            </a:pPr>
            <a:r>
              <a:rPr sz="1125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rPr>
              <a:t>ReviewSchedule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5D6DFE-D1F5-4B70-A2A4-C94FCA09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813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到期 · 纠错 · 变式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间隔稳定与风险重排</a:t>
            </a:r>
          </a:p>
        </p:txBody>
      </p:sp>
      <p:cxnSp>
        <p:nvCxnSpPr>
          <p:cNvPr id="178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33700" y="2690813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A53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79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848350" y="2690813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E9D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80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686800" y="2690813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B6D12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B90D0B-C7F2-46C7-97BB-D9E968FC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57600"/>
            <a:ext cx="914400" cy="2286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1">
                <a:solidFill>
                  <a:srgbClr val="087A5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87A53"/>
                </a:solidFill>
                <a:latin typeface="PingFang SC"/>
                <a:ea typeface="PingFang SC"/>
                <a:cs typeface="PingFang SC"/>
              </a:rPr>
              <a:t>持续上下文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179B6A-3011-424C-ABB8-BF517CD9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57600"/>
            <a:ext cx="800100" cy="2286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1">
                <a:solidFill>
                  <a:srgbClr val="315E9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15E9D"/>
                </a:solidFill>
                <a:latin typeface="PingFang SC"/>
                <a:ea typeface="PingFang SC"/>
                <a:cs typeface="PingFang SC"/>
              </a:rPr>
              <a:t>原子执行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A67723-6D26-4E66-BF3B-242E98D7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57600"/>
            <a:ext cx="914400" cy="2286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1">
                <a:solidFill>
                  <a:srgbClr val="9B6D1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B6D12"/>
                </a:solidFill>
                <a:latin typeface="PingFang SC"/>
                <a:ea typeface="PingFang SC"/>
                <a:cs typeface="PingFang SC"/>
              </a:rPr>
              <a:t>验证后转交</a:t>
            </a:r>
          </a:p>
        </p:txBody>
      </p:sp>
      <p:sp>
        <p:nvSpPr>
          <p:cNvPr id="31" name="overview-path">
            <a:extLst xmlns:a="http://schemas.openxmlformats.org/drawingml/2006/main">
              <a:ext uri="{FF2B5EF4-FFF2-40B4-BE49-F238E27FC236}">
                <a16:creationId xmlns:a16="http://schemas.microsoft.com/office/drawing/2014/main" id="{328618BC-20B6-49C4-8AE4-6F07A09F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0100"/>
            <a:ext cx="2571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1EEFE"/>
          </a:solidFill>
          <a:ln xmlns:a="http://schemas.openxmlformats.org/drawingml/2006/main" w="11430">
            <a:solidFill>
              <a:srgbClr val="C7BD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D39319-6217-40FB-8042-8E057223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01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529B"/>
          </a:solidFill>
          <a:ln xmlns:a="http://schemas.openxmlformats.org/drawingml/2006/main" w="0">
            <a:solidFill>
              <a:srgbClr val="64529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E469E1-13E4-43CE-AA65-602D8FA9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053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学习路径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306E53-5847-4E64-BB4E-4C7FF6C7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0062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defRPr>
            </a:pPr>
            <a:r>
              <a: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rPr>
              <a:t>Official DAG + Personal overlay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AFA899-70B6-445A-956A-7AA22759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48275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前置关系 · 长期路线 · 当前下一跳</a:t>
            </a:r>
          </a:p>
        </p:txBody>
      </p:sp>
      <p:sp>
        <p:nvSpPr>
          <p:cNvPr id="36" name="overview-memory">
            <a:extLst xmlns:a="http://schemas.openxmlformats.org/drawingml/2006/main">
              <a:ext uri="{FF2B5EF4-FFF2-40B4-BE49-F238E27FC236}">
                <a16:creationId xmlns:a16="http://schemas.microsoft.com/office/drawing/2014/main" id="{11D2A94C-043D-458A-A0A8-7AB5A387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10100"/>
            <a:ext cx="2571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7F3EB"/>
          </a:solidFill>
          <a:ln xmlns:a="http://schemas.openxmlformats.org/drawingml/2006/main" w="11430">
            <a:solidFill>
              <a:srgbClr val="A9C7B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8546F3-3944-4B04-BA47-4C697B71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101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53"/>
          </a:solidFill>
          <a:ln xmlns:a="http://schemas.openxmlformats.org/drawingml/2006/main" w="0">
            <a:solidFill>
              <a:srgbClr val="087A5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480502-6A53-430D-888C-4282CF71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7053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五核记忆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AD8A89-924B-4457-AEB9-13BD0958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00062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defRPr>
            </a:pPr>
            <a:r>
              <a: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rPr>
              <a:t>Event → Fact → Module → Claim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AD37E2-6EAF-4733-B761-954CD540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248275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有 scope、可检查、可纠正</a:t>
            </a:r>
          </a:p>
        </p:txBody>
      </p:sp>
      <p:sp>
        <p:nvSpPr>
          <p:cNvPr id="41" name="overview-files">
            <a:extLst xmlns:a="http://schemas.openxmlformats.org/drawingml/2006/main">
              <a:ext uri="{FF2B5EF4-FFF2-40B4-BE49-F238E27FC236}">
                <a16:creationId xmlns:a16="http://schemas.microsoft.com/office/drawing/2014/main" id="{5A4C0FBB-C40A-4C22-B1BD-529884C9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0100"/>
            <a:ext cx="2571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7F0FF"/>
          </a:solidFill>
          <a:ln xmlns:a="http://schemas.openxmlformats.org/drawingml/2006/main" w="11430">
            <a:solidFill>
              <a:srgbClr val="B9CB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976A34-70BC-42A3-A59E-E5550415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01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9"/>
          </a:solidFill>
          <a:ln xmlns:a="http://schemas.openxmlformats.org/drawingml/2006/main" w="0">
            <a:solidFill>
              <a:srgbClr val="20314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45F4C8-F1FB-4FAC-822E-AF0D9C2A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053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文件系统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3D4A6A-3E84-44A3-977A-8953C6F7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0062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defRPr>
            </a:pPr>
            <a:r>
              <a: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rPr>
              <a:t>Source / Lecture / Exercise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81662B-A856-4F8B-9DBA-E871B6DC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48275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来源、讲义、练习与项目文件</a:t>
            </a:r>
          </a:p>
        </p:txBody>
      </p:sp>
      <p:cxnSp>
        <p:nvCxnSpPr>
          <p:cNvPr id="199" name=""/>
          <p:cNvCxnSpPr>
            <a:stCxn xmlns:a="http://schemas.openxmlformats.org/drawingml/2006/main" id="31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2619375" y="3533775"/>
            <a:ext cx="1990725" cy="1076325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64529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00" name=""/>
          <p:cNvCxnSpPr>
            <a:stCxn xmlns:a="http://schemas.openxmlformats.org/drawingml/2006/main" id="36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1790700" y="3571875"/>
            <a:ext cx="4305300" cy="1038225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087A53"/>
            </a:solidFill>
            <a:prstDash val="dash"/>
            <a:headEnd type="arrow" w="sm" len="sm"/>
            <a:tailEnd type="arrow" w="med" len="med"/>
          </a:ln>
        </p:spPr>
      </p:cxnSp>
      <p:cxnSp>
        <p:nvCxnSpPr>
          <p:cNvPr id="201" name=""/>
          <p:cNvCxnSpPr>
            <a:stCxn xmlns:a="http://schemas.openxmlformats.org/drawingml/2006/main" id="41" idx="0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H="1" flipV="1">
            <a:off x="7496175" y="3533775"/>
            <a:ext cx="2076450" cy="1076325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203149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02" name=""/>
          <p:cNvCxnSpPr>
            <a:stCxn xmlns:a="http://schemas.openxmlformats.org/drawingml/2006/main" id="20" idx="2"/>
            <a:endCxn xmlns:a="http://schemas.openxmlformats.org/drawingml/2006/main" id="36" idx="3"/>
          </p:cNvCxnSpPr>
          <p:nvPr/>
        </p:nvCxnSpPr>
        <p:spPr>
          <a:xfrm xmlns:a="http://schemas.openxmlformats.org/drawingml/2006/main" flipH="1">
            <a:off x="7381875" y="3533775"/>
            <a:ext cx="2952750" cy="16383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20955">
            <a:solidFill>
              <a:srgbClr val="9B6D12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D987337-43D1-49A9-BFE6-96B3FCE8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05275"/>
            <a:ext cx="609600" cy="2286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1">
                <a:solidFill>
                  <a:srgbClr val="64529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4529B"/>
                </a:solidFill>
                <a:latin typeface="PingFang SC"/>
                <a:ea typeface="PingFang SC"/>
                <a:cs typeface="PingFang SC"/>
              </a:rPr>
              <a:t>导航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2EBC07-FE38-42F6-92A8-02525CD8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14800"/>
            <a:ext cx="895350" cy="2286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1">
                <a:solidFill>
                  <a:srgbClr val="087A5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87A53"/>
                </a:solidFill>
                <a:latin typeface="PingFang SC"/>
                <a:ea typeface="PingFang SC"/>
                <a:cs typeface="PingFang SC"/>
              </a:rPr>
              <a:t>读取 / 事件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AA5FD2E-07D6-44F0-8E3B-50CE0478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952500" cy="2286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1">
                <a:solidFill>
                  <a:srgbClr val="20314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03149"/>
                </a:solidFill>
                <a:latin typeface="PingFang SC"/>
                <a:ea typeface="PingFang SC"/>
                <a:cs typeface="PingFang SC"/>
              </a:rPr>
              <a:t>来源与产物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7A863E8-835A-4905-8338-A8386099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91125"/>
            <a:ext cx="742950" cy="2286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F6F7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1">
                <a:solidFill>
                  <a:srgbClr val="9B6D1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B6D12"/>
                </a:solidFill>
                <a:latin typeface="PingFang SC"/>
                <a:ea typeface="PingFang SC"/>
                <a:cs typeface="PingFang SC"/>
              </a:rPr>
              <a:t>复习证据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35CED08-531E-4B1B-9F0D-83A7CA4E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8966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B2B"/>
          </a:solidFill>
          <a:ln xmlns:a="http://schemas.openxmlformats.org/drawingml/2006/main" w="0">
            <a:solidFill>
              <a:srgbClr val="111B2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99C167-78D4-40B5-9ED9-9E8FFE2B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00775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生成、阅读与任务完成都不等于掌握；正式作答和验证才进入证据链。</a:t>
            </a:r>
          </a:p>
        </p:txBody>
      </p:sp>
    </p:spTree>
    <p:extLst>
      <p:ext uri="{BB962C8B-B14F-4D97-AF65-F5344CB8AC3E}">
        <p14:creationId xmlns:p14="http://schemas.microsoft.com/office/powerpoint/2010/main" val="18026829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A947CB2-CCF7-49D4-8B66-A35EAAF3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B"/>
          </a:solidFill>
          <a:ln xmlns:a="http://schemas.openxmlformats.org/drawingml/2006/main" w="0">
            <a:solidFill>
              <a:srgbClr val="111B2B"/>
            </a:solidFill>
            <a:prstDash val="solid"/>
          </a:ln>
        </p:spPr>
      </p:sp>
      <p:sp>
        <p:nvSpPr>
          <p:cNvPr id="2" name="eyebrow-2">
            <a:extLst xmlns:a="http://schemas.openxmlformats.org/drawingml/2006/main">
              <a:ext uri="{FF2B5EF4-FFF2-40B4-BE49-F238E27FC236}">
                <a16:creationId xmlns:a16="http://schemas.microsoft.com/office/drawing/2014/main" id="{77AC49F4-4C54-4022-B83D-E1E9111B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087A5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87A53"/>
                </a:solidFill>
                <a:latin typeface="PingFang SC"/>
                <a:ea typeface="PingFang SC"/>
                <a:cs typeface="PingFang SC"/>
              </a:rPr>
              <a:t>LEARNFLOW · VNEXT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6BCB52B9-D30C-44A0-B93B-C5EF989A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工具按场景开放，并连接正式学习对象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83AD48F2-83A4-447D-B16D-5AC3B9FA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5727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状态决定本轮目标；Harness 按 scope 开放工具，读取、产物与提案各有边界。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07147-8378-40AA-9211-D171E664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rPr>
              <a:t>02 / 03</a:t>
            </a:r>
          </a:p>
        </p:txBody>
      </p:sp>
      <p:sp>
        <p:nvSpPr>
          <p:cNvPr id="58" name="mode-free">
            <a:extLst xmlns:a="http://schemas.openxmlformats.org/drawingml/2006/main">
              <a:ext uri="{FF2B5EF4-FFF2-40B4-BE49-F238E27FC236}">
                <a16:creationId xmlns:a16="http://schemas.microsoft.com/office/drawing/2014/main" id="{A15DAAA9-382F-4DF9-AB46-A9150F1F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2638425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26FD67E-82AA-4BD7-86B3-AB88AE2F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26384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53"/>
          </a:solidFill>
          <a:ln xmlns:a="http://schemas.openxmlformats.org/drawingml/2006/main" w="0">
            <a:solidFill>
              <a:srgbClr val="087A5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7F424D7-E736-4863-858E-CE7BD87D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087A53"/>
                </a:solidFill>
                <a:latin typeface="SFMono-Regular"/>
                <a:ea typeface="SFMono-Regular"/>
                <a:cs typeface="SFMono-Regular"/>
              </a:defRPr>
            </a:pPr>
            <a:r>
              <a:rPr sz="975" b="1">
                <a:solidFill>
                  <a:srgbClr val="087A53"/>
                </a:solidFill>
                <a:latin typeface="SFMono-Regular"/>
                <a:ea typeface="SFMono-Regular"/>
                <a:cs typeface="SFMono-Regular"/>
              </a:rPr>
              <a:t>FREE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42D2651-6701-450F-85F3-F0FE9DF2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716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开放探索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B89136E-7DFE-40B2-AC3F-9D20A1CF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开放问题 · 收敛意图</a:t>
            </a:r>
          </a:p>
        </p:txBody>
      </p:sp>
      <p:sp>
        <p:nvSpPr>
          <p:cNvPr id="63" name="mode-explain">
            <a:extLst xmlns:a="http://schemas.openxmlformats.org/drawingml/2006/main">
              <a:ext uri="{FF2B5EF4-FFF2-40B4-BE49-F238E27FC236}">
                <a16:creationId xmlns:a16="http://schemas.microsoft.com/office/drawing/2014/main" id="{C8856BF1-9188-4FE4-A6EC-8D52CC42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466850"/>
            <a:ext cx="2638425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42FE8E7-95B1-49B5-8531-39096235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466850"/>
            <a:ext cx="26384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D12"/>
          </a:solidFill>
          <a:ln xmlns:a="http://schemas.openxmlformats.org/drawingml/2006/main" w="0">
            <a:solidFill>
              <a:srgbClr val="9B6D1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868467D-6D4B-40D0-B07A-926E8129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6002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9B6D12"/>
                </a:solidFill>
                <a:latin typeface="SFMono-Regular"/>
                <a:ea typeface="SFMono-Regular"/>
                <a:cs typeface="SFMono-Regular"/>
              </a:defRPr>
            </a:pPr>
            <a:r>
              <a:rPr sz="975" b="1">
                <a:solidFill>
                  <a:srgbClr val="9B6D12"/>
                </a:solidFill>
                <a:latin typeface="SFMono-Regular"/>
                <a:ea typeface="SFMono-Regular"/>
                <a:cs typeface="SFMono-Regular"/>
              </a:rPr>
              <a:t>EXPLAIN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615B960-147C-4590-8F8C-094211AA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5716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简单讲解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FBB358F-8376-4D73-85DD-43C655A6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857375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查资料 · 讲机制 · 图解</a:t>
            </a:r>
          </a:p>
        </p:txBody>
      </p:sp>
      <p:sp>
        <p:nvSpPr>
          <p:cNvPr id="68" name="mode-learn">
            <a:extLst xmlns:a="http://schemas.openxmlformats.org/drawingml/2006/main">
              <a:ext uri="{FF2B5EF4-FFF2-40B4-BE49-F238E27FC236}">
                <a16:creationId xmlns:a16="http://schemas.microsoft.com/office/drawing/2014/main" id="{6D44A42B-2C41-45D1-A809-B09BF199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466850"/>
            <a:ext cx="2638425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C7D00FE-BC25-4ED1-B8C1-C79E9FA9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466850"/>
            <a:ext cx="26384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9D"/>
          </a:solidFill>
          <a:ln xmlns:a="http://schemas.openxmlformats.org/drawingml/2006/main" w="0">
            <a:solidFill>
              <a:srgbClr val="315E9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8CCBF51-8FB8-4D65-91AF-92327114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002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315E9D"/>
                </a:solidFill>
                <a:latin typeface="SFMono-Regular"/>
                <a:ea typeface="SFMono-Regular"/>
                <a:cs typeface="SFMono-Regular"/>
              </a:defRPr>
            </a:pPr>
            <a:r>
              <a:rPr sz="975" b="1">
                <a:solidFill>
                  <a:srgbClr val="315E9D"/>
                </a:solidFill>
                <a:latin typeface="SFMono-Regular"/>
                <a:ea typeface="SFMono-Regular"/>
                <a:cs typeface="SFMono-Regular"/>
              </a:rPr>
              <a:t>LEARN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27B0944-CC6B-4FEC-9A13-3C5B78FC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716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学习任务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FF30E0F-F133-4A4D-AE88-12726151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57375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任务 · 材料 · 练习 · 复习</a:t>
            </a:r>
          </a:p>
        </p:txBody>
      </p:sp>
      <p:sp>
        <p:nvSpPr>
          <p:cNvPr id="73" name="mode-plan">
            <a:extLst xmlns:a="http://schemas.openxmlformats.org/drawingml/2006/main">
              <a:ext uri="{FF2B5EF4-FFF2-40B4-BE49-F238E27FC236}">
                <a16:creationId xmlns:a16="http://schemas.microsoft.com/office/drawing/2014/main" id="{D9C8399A-C777-4825-8736-081449F6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466850"/>
            <a:ext cx="2638425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BE8C9AB-9267-4FDB-8A4D-5036A537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466850"/>
            <a:ext cx="26384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529B"/>
          </a:solidFill>
          <a:ln xmlns:a="http://schemas.openxmlformats.org/drawingml/2006/main" w="0">
            <a:solidFill>
              <a:srgbClr val="64529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0AAB47C-7A01-4BC0-AB2B-A3B860C2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6002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64529B"/>
                </a:solidFill>
                <a:latin typeface="SFMono-Regular"/>
                <a:ea typeface="SFMono-Regular"/>
                <a:cs typeface="SFMono-Regular"/>
              </a:defRPr>
            </a:pPr>
            <a:r>
              <a:rPr sz="975" b="1">
                <a:solidFill>
                  <a:srgbClr val="64529B"/>
                </a:solidFill>
                <a:latin typeface="SFMono-Regular"/>
                <a:ea typeface="SFMono-Regular"/>
                <a:cs typeface="SFMono-Regular"/>
              </a:rPr>
              <a:t>PLAN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2A6ED54-282E-4575-B638-D64427BE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5716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学习规划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3050765-537B-44BB-B9B7-36C73A10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857375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路径 · 项目 · 长期目标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A57E29E-A904-4B91-B366-5CFE84C2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295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13" b="1">
                <a:solidFill>
                  <a:srgbClr val="93A198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93A198"/>
                </a:solidFill>
                <a:latin typeface="PingFang SC"/>
                <a:ea typeface="PingFang SC"/>
                <a:cs typeface="PingFang SC"/>
              </a:rPr>
              <a:t>当前工具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1BD5EB1-F4F6-4356-85AE-FC3E72E7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13" b="1">
                <a:solidFill>
                  <a:srgbClr val="93A198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93A198"/>
                </a:solidFill>
                <a:latin typeface="PingFang SC"/>
                <a:ea typeface="PingFang SC"/>
                <a:cs typeface="PingFang SC"/>
              </a:rPr>
              <a:t>一般在什么场景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7FE5980-88A1-4255-9766-3B9DE737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13" b="1">
                <a:solidFill>
                  <a:srgbClr val="93A198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93A198"/>
                </a:solidFill>
                <a:latin typeface="PingFang SC"/>
                <a:ea typeface="PingFang SC"/>
                <a:cs typeface="PingFang SC"/>
              </a:rPr>
              <a:t>连接的正式对象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F67972D-7EB6-4487-A3BF-D14D11A3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0505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13" b="1">
                <a:solidFill>
                  <a:srgbClr val="93A198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93A198"/>
                </a:solidFill>
                <a:latin typeface="PingFang SC"/>
                <a:ea typeface="PingFang SC"/>
                <a:cs typeface="PingFang SC"/>
              </a:rPr>
              <a:t>进入哪个空间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AC2A48A-73F7-441F-AA20-BEA5D1EA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F66CB02-80A8-47F2-B62A-3DBAFEFD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1089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9A6DF9F-83E2-4C11-A40B-4E780E61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53"/>
          </a:solidFill>
          <a:ln xmlns:a="http://schemas.openxmlformats.org/drawingml/2006/main" w="0">
            <a:solidFill>
              <a:srgbClr val="087A5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068A5DB-A39D-4213-94DF-5D4E39FF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955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状态与学习上下文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D538F10-C561-42B1-9415-BAE8E698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241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" b="0">
                <a:solidFill>
                  <a:srgbClr val="087A53"/>
                </a:solidFill>
                <a:latin typeface="SFMono-Regular"/>
                <a:ea typeface="SFMono-Regular"/>
                <a:cs typeface="SFMono-Regular"/>
              </a:defRPr>
            </a:pPr>
            <a:r>
              <a:rPr sz="840" b="0">
                <a:solidFill>
                  <a:srgbClr val="087A53"/>
                </a:solidFill>
                <a:latin typeface="SFMono-Regular"/>
                <a:ea typeface="SFMono-Regular"/>
                <a:cs typeface="SFMono-Regular"/>
              </a:rPr>
              <a:t>read_learner_context · read_learning_workspace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40" b="0">
                <a:solidFill>
                  <a:srgbClr val="087A53"/>
                </a:solidFill>
                <a:latin typeface="SFMono-Regular"/>
                <a:ea typeface="SFMono-Regular"/>
                <a:cs typeface="SFMono-Regular"/>
              </a:defRPr>
            </a:pPr>
            <a:r>
              <a:rPr sz="840" b="0">
                <a:solidFill>
                  <a:srgbClr val="087A53"/>
                </a:solidFill>
                <a:latin typeface="SFMono-Regular"/>
                <a:ea typeface="SFMono-Regular"/>
                <a:cs typeface="SFMono-Regular"/>
              </a:rPr>
              <a:t>read_review_context · read_learning_path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3AB1BEF-417B-4F4D-9F9E-A9B4D84E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0510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65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65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每轮先读；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065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65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learn / plan 追加工作区观察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13740DC-61C0-454C-B6E4-78519055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05100"/>
            <a:ext cx="316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8" b="0">
                <a:solidFill>
                  <a:srgbClr val="15221D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8" b="0">
                <a:solidFill>
                  <a:srgbClr val="15221D"/>
                </a:solidFill>
                <a:latin typeface="SFMono-Regular"/>
                <a:ea typeface="SFMono-Regular"/>
                <a:cs typeface="SFMono-Regular"/>
              </a:rPr>
              <a:t>KernelHead · Memory Graph · ContextPacket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8" b="0">
                <a:solidFill>
                  <a:srgbClr val="15221D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8" b="0">
                <a:solidFill>
                  <a:srgbClr val="15221D"/>
                </a:solidFill>
                <a:latin typeface="SFMono-Regular"/>
                <a:ea typeface="SFMono-Regular"/>
                <a:cs typeface="SFMono-Regular"/>
              </a:rPr>
              <a:t>LearningTask · ReviewSchedule · DAG / Plan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75E9563-5D35-450F-BB22-272AA10A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051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65" b="1">
                <a:solidFill>
                  <a:srgbClr val="087A53"/>
                </a:solidFill>
                <a:latin typeface="PingFang SC"/>
                <a:ea typeface="PingFang SC"/>
                <a:cs typeface="PingFang SC"/>
              </a:defRPr>
            </a:pPr>
            <a:r>
              <a:rPr sz="1065" b="1">
                <a:solidFill>
                  <a:srgbClr val="087A53"/>
                </a:solidFill>
                <a:latin typeface="PingFang SC"/>
                <a:ea typeface="PingFang SC"/>
                <a:cs typeface="PingFang SC"/>
              </a:rPr>
              <a:t>对话 / 任务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065" b="1">
                <a:solidFill>
                  <a:srgbClr val="087A53"/>
                </a:solidFill>
                <a:latin typeface="PingFang SC"/>
                <a:ea typeface="PingFang SC"/>
                <a:cs typeface="PingFang SC"/>
              </a:defRPr>
            </a:pPr>
            <a:r>
              <a:rPr sz="1065" b="1">
                <a:solidFill>
                  <a:srgbClr val="087A53"/>
                </a:solidFill>
                <a:latin typeface="PingFang SC"/>
                <a:ea typeface="PingFang SC"/>
                <a:cs typeface="PingFang SC"/>
              </a:rPr>
              <a:t>复习 / 路径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FA439D3-661A-4359-BFA4-16D463D5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E2DC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69F6D07-9A82-4BE6-9B52-B15B5EDA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ED51B8C-E432-4171-BB83-E21BB63D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D12"/>
          </a:solidFill>
          <a:ln xmlns:a="http://schemas.openxmlformats.org/drawingml/2006/main" w="0">
            <a:solidFill>
              <a:srgbClr val="9B6D12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7B7068B-5B6D-4DB1-8E08-395C090C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资料与联网检索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D7FDE6F-8208-4B9F-9208-69AD6622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" b="0">
                <a:solidFill>
                  <a:srgbClr val="9B6D12"/>
                </a:solidFill>
                <a:latin typeface="SFMono-Regular"/>
                <a:ea typeface="SFMono-Regular"/>
                <a:cs typeface="SFMono-Regular"/>
              </a:defRPr>
            </a:pPr>
            <a:r>
              <a:rPr sz="840" b="0">
                <a:solidFill>
                  <a:srgbClr val="9B6D12"/>
                </a:solidFill>
                <a:latin typeface="SFMono-Regular"/>
                <a:ea typeface="SFMono-Regular"/>
                <a:cs typeface="SFMono-Regular"/>
              </a:rPr>
              <a:t>read_domain_knowledge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40" b="0">
                <a:solidFill>
                  <a:srgbClr val="9B6D12"/>
                </a:solidFill>
                <a:latin typeface="SFMono-Regular"/>
                <a:ea typeface="SFMono-Regular"/>
                <a:cs typeface="SFMono-Regular"/>
              </a:defRPr>
            </a:pPr>
            <a:r>
              <a:rPr sz="840" b="0">
                <a:solidFill>
                  <a:srgbClr val="9B6D12"/>
                </a:solidFill>
                <a:latin typeface="SFMono-Regular"/>
                <a:ea typeface="SFMono-Regular"/>
                <a:cs typeface="SFMono-Regular"/>
              </a:rPr>
              <a:t>search_computer_knowledge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FC1AB8F-7E57-4281-B693-664B8C89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7185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65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65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解释、排错；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065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65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需要来源或路径补缺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81E7550-B49D-45E9-88C8-3E8273A5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71850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8" b="0">
                <a:solidFill>
                  <a:srgbClr val="15221D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8" b="0">
                <a:solidFill>
                  <a:srgbClr val="15221D"/>
                </a:solidFill>
                <a:latin typeface="SFMono-Regular"/>
                <a:ea typeface="SFMono-Regular"/>
                <a:cs typeface="SFMono-Regular"/>
              </a:rPr>
              <a:t>Source · Chunk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8" b="0">
                <a:solidFill>
                  <a:srgbClr val="15221D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8" b="0">
                <a:solidFill>
                  <a:srgbClr val="15221D"/>
                </a:solidFill>
                <a:latin typeface="SFMono-Regular"/>
                <a:ea typeface="SFMono-Regular"/>
                <a:cs typeface="SFMono-Regular"/>
              </a:rPr>
              <a:t>Evidence Bundle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CCEEF72-D346-42FB-9123-4A15204B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718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65" b="1">
                <a:solidFill>
                  <a:srgbClr val="9B6D12"/>
                </a:solidFill>
                <a:latin typeface="PingFang SC"/>
                <a:ea typeface="PingFang SC"/>
                <a:cs typeface="PingFang SC"/>
              </a:defRPr>
            </a:pPr>
            <a:r>
              <a:rPr sz="1065" b="1">
                <a:solidFill>
                  <a:srgbClr val="9B6D12"/>
                </a:solidFill>
                <a:latin typeface="PingFang SC"/>
                <a:ea typeface="PingFang SC"/>
                <a:cs typeface="PingFang SC"/>
              </a:rPr>
              <a:t>对话资料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065" b="1">
                <a:solidFill>
                  <a:srgbClr val="9B6D12"/>
                </a:solidFill>
                <a:latin typeface="PingFang SC"/>
                <a:ea typeface="PingFang SC"/>
                <a:cs typeface="PingFang SC"/>
              </a:defRPr>
            </a:pPr>
            <a:r>
              <a:rPr sz="1065" b="1">
                <a:solidFill>
                  <a:srgbClr val="9B6D12"/>
                </a:solidFill>
                <a:latin typeface="PingFang SC"/>
                <a:ea typeface="PingFang SC"/>
                <a:cs typeface="PingFang SC"/>
              </a:rPr>
              <a:t>文件系统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060B15D-69BC-4C38-BA9A-C5BF90EC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E2DC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13573B5-CCBB-44D9-B62B-6EB67038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10896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78DEF93-DDB4-4590-84EB-4ECFE796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78"/>
          </a:solidFill>
          <a:ln xmlns:a="http://schemas.openxmlformats.org/drawingml/2006/main" w="0">
            <a:solidFill>
              <a:srgbClr val="167A78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3E1A9CE-A9A8-43F0-A935-FF5B3474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719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图解与动画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0799572-EB69-447B-9AA1-E6387E77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00525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" b="0">
                <a:solidFill>
                  <a:srgbClr val="167A78"/>
                </a:solidFill>
                <a:latin typeface="SFMono-Regular"/>
                <a:ea typeface="SFMono-Regular"/>
                <a:cs typeface="SFMono-Regular"/>
              </a:defRPr>
            </a:pPr>
            <a:r>
              <a:rPr sz="840" b="0">
                <a:solidFill>
                  <a:srgbClr val="167A78"/>
                </a:solidFill>
                <a:latin typeface="SFMono-Regular"/>
                <a:ea typeface="SFMono-Regular"/>
                <a:cs typeface="SFMono-Regular"/>
              </a:rPr>
              <a:t>generate_learning_visual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454E285-EEF2-4F98-AEED-12BEB4E8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814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65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65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机制、结构、过程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065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65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不适合只用文字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B097F07-54AA-4F35-A566-2BE68F1D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814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8" b="0">
                <a:solidFill>
                  <a:srgbClr val="15221D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8" b="0">
                <a:solidFill>
                  <a:srgbClr val="15221D"/>
                </a:solidFill>
                <a:latin typeface="SFMono-Regular"/>
                <a:ea typeface="SFMono-Regular"/>
                <a:cs typeface="SFMono-Regular"/>
              </a:rPr>
              <a:t>validated SVG · frames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8" b="0">
                <a:solidFill>
                  <a:srgbClr val="15221D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8" b="0">
                <a:solidFill>
                  <a:srgbClr val="15221D"/>
                </a:solidFill>
                <a:latin typeface="SFMono-Regular"/>
                <a:ea typeface="SFMono-Regular"/>
                <a:cs typeface="SFMono-Regular"/>
              </a:rPr>
              <a:t>VisualArtifact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9937436-1A89-42D3-9B0B-0D717B27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9814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65" b="1">
                <a:solidFill>
                  <a:srgbClr val="167A78"/>
                </a:solidFill>
                <a:latin typeface="PingFang SC"/>
                <a:ea typeface="PingFang SC"/>
                <a:cs typeface="PingFang SC"/>
              </a:defRPr>
            </a:pPr>
            <a:r>
              <a:rPr sz="1065" b="1">
                <a:solidFill>
                  <a:srgbClr val="167A78"/>
                </a:solidFill>
                <a:latin typeface="PingFang SC"/>
                <a:ea typeface="PingFang SC"/>
                <a:cs typeface="PingFang SC"/>
              </a:rPr>
              <a:t>对话纸张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065" b="1">
                <a:solidFill>
                  <a:srgbClr val="167A78"/>
                </a:solidFill>
                <a:latin typeface="PingFang SC"/>
                <a:ea typeface="PingFang SC"/>
                <a:cs typeface="PingFang SC"/>
              </a:defRPr>
            </a:pPr>
            <a:r>
              <a:rPr sz="1065" b="1">
                <a:solidFill>
                  <a:srgbClr val="167A78"/>
                </a:solidFill>
                <a:latin typeface="PingFang SC"/>
                <a:ea typeface="PingFang SC"/>
                <a:cs typeface="PingFang SC"/>
              </a:rPr>
              <a:t>学习文件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A35572C-0A74-4129-A28B-0FDC3F7A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E2DC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2B03F0C-1229-40B5-A8E8-915F1C68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E7C9839-12C3-4DD2-BC36-61A4F39F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9D"/>
          </a:solidFill>
          <a:ln xmlns:a="http://schemas.openxmlformats.org/drawingml/2006/main" w="0">
            <a:solidFill>
              <a:srgbClr val="315E9D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BB70FE6-0478-4EDA-858A-414240ED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34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项目内感知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A2739E4-D513-4A74-BBA2-893747BD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72025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" b="0">
                <a:solidFill>
                  <a:srgbClr val="315E9D"/>
                </a:solidFill>
                <a:latin typeface="SFMono-Regular"/>
                <a:ea typeface="SFMono-Regular"/>
                <a:cs typeface="SFMono-Regular"/>
              </a:defRPr>
            </a:pPr>
            <a:r>
              <a:rPr sz="840" b="0">
                <a:solidFill>
                  <a:srgbClr val="315E9D"/>
                </a:solidFill>
                <a:latin typeface="SFMono-Regular"/>
                <a:ea typeface="SFMono-Regular"/>
                <a:cs typeface="SFMono-Regular"/>
              </a:rPr>
              <a:t>read_project_workspace · read_project_roadmap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40" b="0">
                <a:solidFill>
                  <a:srgbClr val="315E9D"/>
                </a:solidFill>
                <a:latin typeface="SFMono-Regular"/>
                <a:ea typeface="SFMono-Regular"/>
                <a:cs typeface="SFMono-Regular"/>
              </a:defRPr>
            </a:pPr>
            <a:r>
              <a:rPr sz="840" b="0">
                <a:solidFill>
                  <a:srgbClr val="315E9D"/>
                </a:solidFill>
                <a:latin typeface="SFMono-Regular"/>
                <a:ea typeface="SFMono-Regular"/>
                <a:cs typeface="SFMono-Regular"/>
              </a:rPr>
              <a:t>read_project_sources · read_project_learning_file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FC13BAC-8849-4BD5-8995-FFB991F8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529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65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65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进入 project scope；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065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65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项目规划或关卡学习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CDF153E-7F54-4B70-B7B0-C27E60F0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52950"/>
            <a:ext cx="316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8" b="0">
                <a:solidFill>
                  <a:srgbClr val="15221D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8" b="0">
                <a:solidFill>
                  <a:srgbClr val="15221D"/>
                </a:solidFill>
                <a:latin typeface="SFMono-Regular"/>
                <a:ea typeface="SFMono-Regular"/>
                <a:cs typeface="SFMono-Regular"/>
              </a:rPr>
              <a:t>Project · Roadmap · Checkpoint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8" b="0">
                <a:solidFill>
                  <a:srgbClr val="15221D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8" b="0">
                <a:solidFill>
                  <a:srgbClr val="15221D"/>
                </a:solidFill>
                <a:latin typeface="SFMono-Regular"/>
                <a:ea typeface="SFMono-Regular"/>
                <a:cs typeface="SFMono-Regular"/>
              </a:rPr>
              <a:t>Source · Lecture · Exercise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2247BC0-FB66-43CA-8D0F-3C63A614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5529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65" b="1">
                <a:solidFill>
                  <a:srgbClr val="315E9D"/>
                </a:solidFill>
                <a:latin typeface="PingFang SC"/>
                <a:ea typeface="PingFang SC"/>
                <a:cs typeface="PingFang SC"/>
              </a:defRPr>
            </a:pPr>
            <a:r>
              <a:rPr sz="1065" b="1">
                <a:solidFill>
                  <a:srgbClr val="315E9D"/>
                </a:solidFill>
                <a:latin typeface="PingFang SC"/>
                <a:ea typeface="PingFang SC"/>
                <a:cs typeface="PingFang SC"/>
              </a:rPr>
              <a:t>项目 / 关卡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065" b="1">
                <a:solidFill>
                  <a:srgbClr val="315E9D"/>
                </a:solidFill>
                <a:latin typeface="PingFang SC"/>
                <a:ea typeface="PingFang SC"/>
                <a:cs typeface="PingFang SC"/>
              </a:defRPr>
            </a:pPr>
            <a:r>
              <a:rPr sz="1065" b="1">
                <a:solidFill>
                  <a:srgbClr val="315E9D"/>
                </a:solidFill>
                <a:latin typeface="PingFang SC"/>
                <a:ea typeface="PingFang SC"/>
                <a:cs typeface="PingFang SC"/>
              </a:rPr>
              <a:t>文件系统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9863DC3-D724-47FD-B9E0-5718BABE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8160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9E2D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7B545C3-22ED-4DC4-BDE6-8516637B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8160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60F6D1E-E734-4D4F-9F17-EE34FC95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8160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529B"/>
          </a:solidFill>
          <a:ln xmlns:a="http://schemas.openxmlformats.org/drawingml/2006/main" w="0">
            <a:solidFill>
              <a:srgbClr val="64529B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B36C1B4-FBF2-47FD-A363-802BC802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673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项目内提案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6F61B88-AD1C-4A69-A9F8-D2044374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95925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" b="0">
                <a:solidFill>
                  <a:srgbClr val="64529B"/>
                </a:solidFill>
                <a:latin typeface="SFMono-Regular"/>
                <a:ea typeface="SFMono-Regular"/>
                <a:cs typeface="SFMono-Regular"/>
              </a:defRPr>
            </a:pPr>
            <a:r>
              <a:rPr sz="840" b="0">
                <a:solidFill>
                  <a:srgbClr val="64529B"/>
                </a:solidFill>
                <a:latin typeface="SFMono-Regular"/>
                <a:ea typeface="SFMono-Regular"/>
                <a:cs typeface="SFMono-Regular"/>
              </a:rPr>
              <a:t>propose_project_roadmap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40" b="0">
                <a:solidFill>
                  <a:srgbClr val="64529B"/>
                </a:solidFill>
                <a:latin typeface="SFMono-Regular"/>
                <a:ea typeface="SFMono-Regular"/>
                <a:cs typeface="SFMono-Regular"/>
              </a:defRPr>
            </a:pPr>
            <a:r>
              <a:rPr sz="840" b="0">
                <a:solidFill>
                  <a:srgbClr val="64529B"/>
                </a:solidFill>
                <a:latin typeface="SFMono-Regular"/>
                <a:ea typeface="SFMono-Regular"/>
                <a:cs typeface="SFMono-Regular"/>
              </a:rPr>
              <a:t>propose_project_learning_files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BB1BA6C-1EFC-4118-9B7A-39D7389B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768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65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65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plan 修订路线；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065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65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learn 申请讲义 / 练习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55632F0-8136-4FDE-ADB7-2A6E52E5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76850"/>
            <a:ext cx="316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8" b="0">
                <a:solidFill>
                  <a:srgbClr val="15221D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8" b="0">
                <a:solidFill>
                  <a:srgbClr val="15221D"/>
                </a:solidFill>
                <a:latin typeface="SFMono-Regular"/>
                <a:ea typeface="SFMono-Regular"/>
                <a:cs typeface="SFMono-Regular"/>
              </a:rPr>
              <a:t>Roadmap proposal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8" b="0">
                <a:solidFill>
                  <a:srgbClr val="15221D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58" b="0">
                <a:solidFill>
                  <a:srgbClr val="15221D"/>
                </a:solidFill>
                <a:latin typeface="SFMono-Regular"/>
                <a:ea typeface="SFMono-Regular"/>
                <a:cs typeface="SFMono-Regular"/>
              </a:rPr>
              <a:t>File proposal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70021B5-874C-40D0-B668-270CE38D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2768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65" b="1">
                <a:solidFill>
                  <a:srgbClr val="64529B"/>
                </a:solidFill>
                <a:latin typeface="PingFang SC"/>
                <a:ea typeface="PingFang SC"/>
                <a:cs typeface="PingFang SC"/>
              </a:defRPr>
            </a:pPr>
            <a:r>
              <a:rPr sz="1065" b="1">
                <a:solidFill>
                  <a:srgbClr val="64529B"/>
                </a:solidFill>
                <a:latin typeface="PingFang SC"/>
                <a:ea typeface="PingFang SC"/>
                <a:cs typeface="PingFang SC"/>
              </a:rPr>
              <a:t>待确认卡片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065" b="1">
                <a:solidFill>
                  <a:srgbClr val="64529B"/>
                </a:solidFill>
                <a:latin typeface="PingFang SC"/>
                <a:ea typeface="PingFang SC"/>
                <a:cs typeface="PingFang SC"/>
              </a:defRPr>
            </a:pPr>
            <a:r>
              <a:rPr sz="1065" b="1">
                <a:solidFill>
                  <a:srgbClr val="64529B"/>
                </a:solidFill>
                <a:latin typeface="PingFang SC"/>
                <a:ea typeface="PingFang SC"/>
                <a:cs typeface="PingFang SC"/>
              </a:rPr>
              <a:t>→ 项目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D85D0BD-EF34-47E5-8BAF-93D81164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09850"/>
            <a:ext cx="95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6"/>
          </a:solidFill>
          <a:ln xmlns:a="http://schemas.openxmlformats.org/drawingml/2006/main" w="0">
            <a:solidFill>
              <a:srgbClr val="E4EAE6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61F162C-D312-4955-B3A2-CF598AC0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9850"/>
            <a:ext cx="95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6"/>
          </a:solidFill>
          <a:ln xmlns:a="http://schemas.openxmlformats.org/drawingml/2006/main" w="0">
            <a:solidFill>
              <a:srgbClr val="E4EAE6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60B2182-E125-46EC-BE40-7942557D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09850"/>
            <a:ext cx="95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6"/>
          </a:solidFill>
          <a:ln xmlns:a="http://schemas.openxmlformats.org/drawingml/2006/main" w="0">
            <a:solidFill>
              <a:srgbClr val="E4EAE6"/>
            </a:solidFill>
            <a:prstDash val="solid"/>
          </a:ln>
        </p:spPr>
      </p:sp>
      <p:sp>
        <p:nvSpPr>
          <p:cNvPr id="125" name="tool-runtime-boundary">
            <a:extLst xmlns:a="http://schemas.openxmlformats.org/drawingml/2006/main">
              <a:ext uri="{FF2B5EF4-FFF2-40B4-BE49-F238E27FC236}">
                <a16:creationId xmlns:a16="http://schemas.microsoft.com/office/drawing/2014/main" id="{9E4B9854-1A04-4539-A099-E4F6488E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10896600" cy="533400"/>
          </a:xfrm>
          <a:prstGeom xmlns:a="http://schemas.openxmlformats.org/drawingml/2006/main" prst="roundRect">
            <a:avLst>
              <a:gd name="adj" fmla="val 17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C390701-8B91-43DC-BDC3-1BD78E9B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B2B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CFB308B-1104-4423-87B5-6911655D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91C72F4-2D86-4B80-964B-95BFC0B3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864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087A5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87A53"/>
                </a:solidFill>
                <a:latin typeface="PingFang SC"/>
                <a:ea typeface="PingFang SC"/>
                <a:cs typeface="PingFang SC"/>
              </a:rPr>
              <a:t>运行边界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39C4E20-9C01-4DE3-A18C-FE97DFD8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769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88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Harness 按 scope 开放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A1F6D1A-AD5E-4C2A-90AE-C865C5E8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0769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087A5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87A5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DB0E186-5D52-4A6E-A5FD-5CFA69FE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0769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88" b="1">
                <a:solidFill>
                  <a:srgbClr val="111B2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B2B"/>
                </a:solidFill>
                <a:latin typeface="PingFang SC"/>
                <a:ea typeface="PingFang SC"/>
                <a:cs typeface="PingFang SC"/>
              </a:rPr>
              <a:t>观察 / 产物 / proposal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1B0D885-CF41-42E9-913A-3E0FDA2B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769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087A5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87A5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37137FF-8084-4494-BAB1-F026C2E0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07695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88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Action Board / API 确认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078AC0F-3783-42E3-9A06-299CBE9A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0769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087A5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87A5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C9C1AD9-C0A2-4A9B-925B-897268DD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0769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88" b="1">
                <a:solidFill>
                  <a:srgbClr val="111B2B"/>
                </a:solidFill>
                <a:latin typeface="SFMono-Regular"/>
                <a:ea typeface="SFMono-Regular"/>
                <a:cs typeface="SFMono-Regular"/>
              </a:defRPr>
            </a:pPr>
            <a:r>
              <a:rPr sz="1088" b="1">
                <a:solidFill>
                  <a:srgbClr val="111B2B"/>
                </a:solidFill>
                <a:latin typeface="SFMono-Regular"/>
                <a:ea typeface="SFMono-Regular"/>
                <a:cs typeface="SFMono-Regular"/>
              </a:rPr>
              <a:t>EvidenceEvent → 五核链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DC8ABF2-B232-4545-9003-7299D4A8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608647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60" b="1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读取、生成与任务完成本身都不等于掌握。</a:t>
            </a:r>
          </a:p>
        </p:txBody>
      </p:sp>
    </p:spTree>
    <p:extLst>
      <p:ext uri="{BB962C8B-B14F-4D97-AF65-F5344CB8AC3E}">
        <p14:creationId xmlns:p14="http://schemas.microsoft.com/office/powerpoint/2010/main" val="17627149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12ABF52-B13F-4A5F-9689-CB4938A2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B"/>
          </a:solidFill>
          <a:ln xmlns:a="http://schemas.openxmlformats.org/drawingml/2006/main" w="0">
            <a:solidFill>
              <a:srgbClr val="111B2B"/>
            </a:solidFill>
            <a:prstDash val="solid"/>
          </a:ln>
        </p:spPr>
      </p:sp>
      <p:sp>
        <p:nvSpPr>
          <p:cNvPr id="2" name="eyebrow-3">
            <a:extLst xmlns:a="http://schemas.openxmlformats.org/drawingml/2006/main">
              <a:ext uri="{FF2B5EF4-FFF2-40B4-BE49-F238E27FC236}">
                <a16:creationId xmlns:a16="http://schemas.microsoft.com/office/drawing/2014/main" id="{56EAA379-0418-4668-93B7-05FC62E2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087A5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87A53"/>
                </a:solidFill>
                <a:latin typeface="PingFang SC"/>
                <a:ea typeface="PingFang SC"/>
                <a:cs typeface="PingFang SC"/>
              </a:rPr>
              <a:t>LEARNFLOW · VNEXT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19DF2E53-A18D-47DD-BBFD-44C8C7CA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五核共享骨架，但不共享结论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95E8A916-EEE6-49FF-99DF-6E0832CC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5727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同一事件可以进入多个核；每个核只回答自己的问题。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5570A-7392-420E-B0E8-25B84500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rPr>
              <a:t>03 /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E4512-E902-410A-9BEC-78E7F338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rPr>
              <a:t>原始证据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B5AC4-75B9-4A77-A61A-5DDF21C9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371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167A7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67A78"/>
                </a:solidFill>
                <a:latin typeface="PingFang SC"/>
                <a:ea typeface="PingFang SC"/>
                <a:cs typeface="PingFang SC"/>
              </a:rPr>
              <a:t>版本化记忆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6367A-7C78-4334-A00C-CDEEF001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3716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087A5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87A53"/>
                </a:solidFill>
                <a:latin typeface="PingFang SC"/>
                <a:ea typeface="PingFang SC"/>
                <a:cs typeface="PingFang SC"/>
              </a:rPr>
              <a:t>当前声明</a:t>
            </a:r>
          </a:p>
        </p:txBody>
      </p:sp>
      <p:sp>
        <p:nvSpPr>
          <p:cNvPr id="9" name="memory-event">
            <a:extLst xmlns:a="http://schemas.openxmlformats.org/drawingml/2006/main">
              <a:ext uri="{FF2B5EF4-FFF2-40B4-BE49-F238E27FC236}">
                <a16:creationId xmlns:a16="http://schemas.microsoft.com/office/drawing/2014/main" id="{9F8E0BF5-26EE-4084-BC4C-4D2E6BC2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1476375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38058-7149-4D00-9B69-82A8BCC5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Event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1695BD-EBA5-40EB-A694-4560D6B2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defRPr>
            </a:pPr>
            <a:r>
              <a: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rPr>
              <a:t>EvidenceEvent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7875C-C9A4-4F6E-915D-F79B9A6D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5525"/>
            <a:ext cx="1095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动作账本</a:t>
            </a:r>
          </a:p>
        </p:txBody>
      </p:sp>
      <p:sp>
        <p:nvSpPr>
          <p:cNvPr id="13" name="memory-fact">
            <a:extLst xmlns:a="http://schemas.openxmlformats.org/drawingml/2006/main">
              <a:ext uri="{FF2B5EF4-FFF2-40B4-BE49-F238E27FC236}">
                <a16:creationId xmlns:a16="http://schemas.microsoft.com/office/drawing/2014/main" id="{ED3D5C89-34C3-44C5-A88C-2BBB5612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657350"/>
            <a:ext cx="1476375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8E1284-E99B-4261-A528-85A35DCF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7526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Fact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6B709C-AD50-4E39-ACEA-9E60E12E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047875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defRPr>
            </a:pPr>
            <a:r>
              <a: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rPr>
              <a:t>MemoryFact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3AE53D-E4D2-4D6D-AB5B-8BAF4B66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295525"/>
            <a:ext cx="1095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分核原子事实</a:t>
            </a:r>
          </a:p>
        </p:txBody>
      </p:sp>
      <p:sp>
        <p:nvSpPr>
          <p:cNvPr id="17" name="memory-module-v1">
            <a:extLst xmlns:a="http://schemas.openxmlformats.org/drawingml/2006/main">
              <a:ext uri="{FF2B5EF4-FFF2-40B4-BE49-F238E27FC236}">
                <a16:creationId xmlns:a16="http://schemas.microsoft.com/office/drawing/2014/main" id="{CA23D56F-7C22-4513-B157-A027A535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8115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2383">
            <a:solidFill>
              <a:srgbClr val="94CB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0E19C1-C931-4E08-85CD-86565834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76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Module V1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FBB85F-056C-46C3-9D49-D5179D49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716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defRPr>
            </a:pPr>
            <a:r>
              <a: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rPr>
              <a:t>不可变快照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667681-52B6-4700-BDB8-01B558BD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19325"/>
            <a:ext cx="1428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同 learner / kernel / subject</a:t>
            </a:r>
          </a:p>
        </p:txBody>
      </p:sp>
      <p:sp>
        <p:nvSpPr>
          <p:cNvPr id="21" name="memory-module-v2">
            <a:extLst xmlns:a="http://schemas.openxmlformats.org/drawingml/2006/main">
              <a:ext uri="{FF2B5EF4-FFF2-40B4-BE49-F238E27FC236}">
                <a16:creationId xmlns:a16="http://schemas.microsoft.com/office/drawing/2014/main" id="{0E84B7B2-059A-4DD8-AB21-94573770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8115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5240">
            <a:solidFill>
              <a:srgbClr val="167A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B1CCC7-A0A2-4F5F-ACA1-825BDA86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76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Module V2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AEC0DE-33EA-4178-BB16-B4162024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716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defRPr>
            </a:pPr>
            <a:r>
              <a: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rPr>
              <a:t>继承证据 + delta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F4BDA1-6CF0-40AE-8325-20B6D9E4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19325"/>
            <a:ext cx="1428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REFINES / SUPERSEDES</a:t>
            </a:r>
          </a:p>
        </p:txBody>
      </p:sp>
      <p:sp>
        <p:nvSpPr>
          <p:cNvPr id="25" name="memory-claim">
            <a:extLst xmlns:a="http://schemas.openxmlformats.org/drawingml/2006/main">
              <a:ext uri="{FF2B5EF4-FFF2-40B4-BE49-F238E27FC236}">
                <a16:creationId xmlns:a16="http://schemas.microsoft.com/office/drawing/2014/main" id="{82FDC22C-2EE7-408A-86AB-46B30A89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81150"/>
            <a:ext cx="26479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E7F3EB"/>
          </a:solidFill>
          <a:ln xmlns:a="http://schemas.openxmlformats.org/drawingml/2006/main" w="14288">
            <a:solidFill>
              <a:srgbClr val="087A5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8E5730-5036-4043-AE88-371168A2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764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Claim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ABB8C0-E90D-43A6-A574-88FE6992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71675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defRPr>
            </a:pPr>
            <a:r>
              <a:rPr sz="938" b="1">
                <a:solidFill>
                  <a:srgbClr val="6D7C73"/>
                </a:solidFill>
                <a:latin typeface="SFMono-Regular"/>
                <a:ea typeface="SFMono-Regular"/>
                <a:cs typeface="SFMono-Regular"/>
              </a:rPr>
              <a:t>MemoryClaim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19B42C-2E72-4F04-B52C-CCF61075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19325"/>
            <a:ext cx="2266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可单独检查 · 直接回到 Fact</a:t>
            </a:r>
          </a:p>
        </p:txBody>
      </p:sp>
      <p:cxnSp>
        <p:nvCxnSpPr>
          <p:cNvPr id="166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124075" y="21145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D7C73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67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019550" y="21145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67A7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68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6248400" y="21145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67A7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69" name=""/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477250" y="21145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87A53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E4EED1-6F33-4028-8BCB-601D796F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rPr>
              <a:t>核 / 核心问题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DBE591-F6EB-499B-9853-19094A72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rPr>
              <a:t>Module 如何组织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77409F-79BF-461B-9D12-493286F3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765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rPr>
              <a:t>Claim 如何表达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A66759-C245-4646-960B-5AF38C38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765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A198"/>
                </a:solidFill>
                <a:latin typeface="PingFang SC"/>
                <a:ea typeface="PingFang SC"/>
                <a:cs typeface="PingFang SC"/>
              </a:rPr>
              <a:t>相关工具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F292F0-B7C5-4AA9-B52A-8A6916AD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0896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2D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7D0DD9-56CB-41E0-9E04-3DB49AB1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10896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E"/>
          </a:solidFill>
          <a:ln xmlns:a="http://schemas.openxmlformats.org/drawingml/2006/main" w="7620">
            <a:solidFill>
              <a:srgbClr val="E3E9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E3CFE6-6F42-409A-9A09-D3E6555E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529B"/>
          </a:solidFill>
          <a:ln xmlns:a="http://schemas.openxmlformats.org/drawingml/2006/main" w="0">
            <a:solidFill>
              <a:srgbClr val="64529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21D049-3681-47F5-897C-FF12E7AA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64529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64529B"/>
                </a:solidFill>
                <a:latin typeface="PingFang SC"/>
                <a:ea typeface="PingFang SC"/>
                <a:cs typeface="PingFang SC"/>
              </a:rPr>
              <a:t>结构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95EABC-E33F-4428-924D-7C9C93BF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走到哪里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E9CB50-A086-4486-8BC2-454F65F2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528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项目 / 路径 / 关卡的稀疏导航片段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F01762-8288-4F45-97C6-13594603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52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当前位置 + 下一跳；不含掌握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ED3FD3-A0F5-4A09-930F-692B85BD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528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64529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4529B"/>
                </a:solidFill>
                <a:latin typeface="PingFang SC"/>
                <a:ea typeface="PingFang SC"/>
                <a:cs typeface="PingFang SC"/>
              </a:rPr>
              <a:t>路径读取 · 路线确认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4A2C7C-F7E2-4D02-83C4-DB24CF66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10896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7620">
            <a:solidFill>
              <a:srgbClr val="E3E9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E4D5DE-AC2D-444F-86CD-8C284E74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9D"/>
          </a:solidFill>
          <a:ln xmlns:a="http://schemas.openxmlformats.org/drawingml/2006/main" w="0">
            <a:solidFill>
              <a:srgbClr val="315E9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BB8A92-A43E-4184-A5C0-81D5ADD2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957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E9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15E9D"/>
                </a:solidFill>
                <a:latin typeface="PingFang SC"/>
                <a:ea typeface="PingFang SC"/>
                <a:cs typeface="PingFang SC"/>
              </a:rPr>
              <a:t>知识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4A7DAB-BE82-4B84-90D5-FDB90D91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理解到什么程度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81151A-D845-4DC1-81E8-48C44352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9624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同一 concept key 的理解与冲突证据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1A40D0-4BB3-49C3-84B9-4F88C6E4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62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带评分依据；自述仅“接触过”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882C47-ACB4-4D21-8626-B5A65B19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62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315E9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15E9D"/>
                </a:solidFill>
                <a:latin typeface="PingFang SC"/>
                <a:ea typeface="PingFang SC"/>
                <a:cs typeface="PingFang SC"/>
              </a:rPr>
              <a:t>五核读取 · 概念图 · 复习上下文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E02B9E5-1088-4366-AAC8-8FAA99F9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10896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8"/>
          </a:solidFill>
          <a:ln xmlns:a="http://schemas.openxmlformats.org/drawingml/2006/main" w="7620">
            <a:solidFill>
              <a:srgbClr val="E3E9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29E6B9-15EE-4B2B-8EF1-71AA061A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4038"/>
          </a:solidFill>
          <a:ln xmlns:a="http://schemas.openxmlformats.org/drawingml/2006/main" w="0">
            <a:solidFill>
              <a:srgbClr val="9B403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D62A96-27E5-4968-905E-C935064B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053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9B40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9B4038"/>
                </a:solidFill>
                <a:latin typeface="PingFang SC"/>
                <a:ea typeface="PingFang SC"/>
                <a:cs typeface="PingFang SC"/>
              </a:rPr>
              <a:t>人因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09C74F7-B881-4DE6-85D4-B0ECD081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怎样教更合适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0BD56ED-3482-436A-93C9-10C3C672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572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负荷 / 节奏 / 讲法反馈的适配指令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AFF8A85-5A6A-4677-A520-686592E8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“怎样支持”；不做人格标签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588656-EF51-4427-9D26-63CE8330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9B40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B4038"/>
                </a:solidFill>
                <a:latin typeface="PingFang SC"/>
                <a:ea typeface="PingFang SC"/>
                <a:cs typeface="PingFang SC"/>
              </a:rPr>
              <a:t>五核读取 · 画像编辑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21BE074-4243-4007-A3D2-60242A7B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10896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7620">
            <a:solidFill>
              <a:srgbClr val="E3E9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DE651DD-C775-40B7-A482-126BAF18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D12"/>
          </a:solidFill>
          <a:ln xmlns:a="http://schemas.openxmlformats.org/drawingml/2006/main" w="0">
            <a:solidFill>
              <a:srgbClr val="9B6D1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7E1BF59-D62D-4678-9D90-6D91224A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149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9B6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9B6D12"/>
                </a:solidFill>
                <a:latin typeface="PingFang SC"/>
                <a:ea typeface="PingFang SC"/>
                <a:cs typeface="PingFang SC"/>
              </a:rPr>
              <a:t>价值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E789CD9-54E4-4CE3-B74D-0F68B3F9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为什么现在学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C3602A1-E30F-4BCB-A6B7-1A1828CE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816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方向 / 目标的候选—确认—撤回链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697C851-8B65-4DCC-9670-721E688D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81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只有明确确认的长期目标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5B4E976-1ABB-4F2F-8CC8-8FFB2161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81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9B6D1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B6D12"/>
                </a:solidFill>
                <a:latin typeface="PingFang SC"/>
                <a:ea typeface="PingFang SC"/>
                <a:cs typeface="PingFang SC"/>
              </a:rPr>
              <a:t>路线规划 · 路线确认 · 画像编辑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CE02D05-F036-4FDE-9CC8-3D2EB4CC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0896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BFA"/>
          </a:solidFill>
          <a:ln xmlns:a="http://schemas.openxmlformats.org/drawingml/2006/main" w="7620">
            <a:solidFill>
              <a:srgbClr val="E3E9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BB97048-90A1-459F-87C1-DE80A5DE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78"/>
          </a:solidFill>
          <a:ln xmlns:a="http://schemas.openxmlformats.org/drawingml/2006/main" w="0">
            <a:solidFill>
              <a:srgbClr val="167A7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B01B59B-C402-455D-B3BB-3F274BA6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245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67A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7A78"/>
                </a:solidFill>
                <a:latin typeface="PingFang SC"/>
                <a:ea typeface="PingFang SC"/>
                <a:cs typeface="PingFang SC"/>
              </a:rPr>
              <a:t>实践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2255836-0AF6-45C0-BF2C-A51BF50B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6D7C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D7C73"/>
                </a:solidFill>
                <a:latin typeface="PingFang SC"/>
                <a:ea typeface="PingFang SC"/>
                <a:cs typeface="PingFang SC"/>
              </a:rPr>
              <a:t>能否独立做出来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2EC732D-9E6D-4A75-BCAF-90B22D47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7912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Attempt / 辅助 / 产物 / 迁移证据链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8EDE7A7-ADE2-4396-A245-DA7B956C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912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15221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5221D"/>
                </a:solidFill>
                <a:latin typeface="PingFang SC"/>
                <a:ea typeface="PingFang SC"/>
                <a:cs typeface="PingFang SC"/>
              </a:rPr>
              <a:t>独立性、辅助等级与迁移条件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139AD31-FA33-4FA8-A6C1-AEB64863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91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167A7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7A78"/>
                </a:solidFill>
                <a:latin typeface="PingFang SC"/>
                <a:ea typeface="PingFang SC"/>
                <a:cs typeface="PingFang SC"/>
              </a:rPr>
              <a:t>确定性判题 · 复习上下文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DA438EE-FE38-4007-A480-37DFD049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111B2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B2B"/>
                </a:solidFill>
                <a:latin typeface="PingFang SC"/>
                <a:ea typeface="PingFang SC"/>
                <a:cs typeface="PingFang SC"/>
              </a:rPr>
              <a:t>所有写入：EvidenceEvent → five_kernel_reducer；Module / Claim 只做可检查的长期投影。</a:t>
            </a:r>
          </a:p>
        </p:txBody>
      </p:sp>
    </p:spTree>
    <p:extLst>
      <p:ext uri="{BB962C8B-B14F-4D97-AF65-F5344CB8AC3E}">
        <p14:creationId xmlns:p14="http://schemas.microsoft.com/office/powerpoint/2010/main" val="3803953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2026-08-26T13:02:12.8360000Z</dcterms:created>
  <dcterms:modified xsi:type="dcterms:W3CDTF">2026-08-26T13:02:12.8360000Z</dcterms:modified>
</coreProperties>
</file>